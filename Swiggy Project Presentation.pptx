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9" r:id="rId2"/>
    <p:sldId id="261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6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080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96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63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034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4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8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090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78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2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83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6315804-94ED-41B1-8747-242956F569C3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C4953D1-67CC-43AA-AED7-85285BBA2C5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95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1EFC7F4-D2CA-4D99-967F-B4F7A833D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C80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Swiggy Data Analytics</a:t>
            </a:r>
            <a:endParaRPr lang="en-US" dirty="0"/>
          </a:p>
          <a:p>
            <a:pPr algn="ctr">
              <a:lnSpc>
                <a:spcPct val="20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Insights on Order, Revenue and Customer Behaviour</a:t>
            </a:r>
            <a:endParaRPr lang="en-IN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04F168-990D-45CE-BF92-54C5A1B850D9}"/>
              </a:ext>
            </a:extLst>
          </p:cNvPr>
          <p:cNvSpPr/>
          <p:nvPr/>
        </p:nvSpPr>
        <p:spPr>
          <a:xfrm>
            <a:off x="3776133" y="2389600"/>
            <a:ext cx="4639733" cy="25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Presented by: Shubham Kakade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53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BE768-9700-4605-8EFF-99E62F04EC99}"/>
              </a:ext>
            </a:extLst>
          </p:cNvPr>
          <p:cNvSpPr txBox="1"/>
          <p:nvPr/>
        </p:nvSpPr>
        <p:spPr>
          <a:xfrm>
            <a:off x="0" y="0"/>
            <a:ext cx="12192000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en-IN" u="sng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u="sng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Objective: -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Build an end-to-end data analytics solution that transforms raw Swiggy order data into meaningful business insights.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Simulate a real-world data warehouse environment by integrating data cleaning, pre-processing, and dimensional modeling.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Perform SQL analysis and interactive dashboard development using Microsoft Fabric, Power BI, Python, MySQL, and Excel.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Analyze key business metrics including: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Total Revenue &amp; Order Volume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Average Order Value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Restaurant Performance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Customer Ratings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Generate dashboards and reports that help stakeholders: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Identify business patterns and trends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Make data-driven decisions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Improve business growth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Enhance customer satisfaction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u="sng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Deliverables: -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Ingest and pre-process raw Swiggy datasets.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Clean and validate data using Python and SQL.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Design and implement a Star Schema data warehouse.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Develop KPIs and analytical measures.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Build interactive dashboards in Excel and Power BI.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Publish reports to Microsoft Fabric for stakeholder access.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7446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BE768-9700-4605-8EFF-99E62F04EC99}"/>
              </a:ext>
            </a:extLst>
          </p:cNvPr>
          <p:cNvSpPr txBox="1"/>
          <p:nvPr/>
        </p:nvSpPr>
        <p:spPr>
          <a:xfrm>
            <a:off x="0" y="0"/>
            <a:ext cx="1219200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en-IN" u="sng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u="sng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Overview: -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"/>
              </a:rPr>
              <a:t>An end-to-end Business Intelligence solution designed to analyze food delivery operations and generate actionable insights from Swiggy order data.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"/>
              </a:rPr>
              <a:t>Developed using Microsoft Fabric, Power BI, Azure, MySQL, Excel, and Python.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"/>
              </a:rPr>
              <a:t>Uses a hybrid dataset combining publicly available Swiggy data with simulated order-level transactions to replicate a real-world warehouse environment.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"/>
              </a:rPr>
              <a:t>Data cleaning &amp; pre-processing performed using Python, SQL, and Excel.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"/>
              </a:rPr>
              <a:t>Transformed data modeled into a Star Schema within Microsoft Fabric.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"/>
              </a:rPr>
              <a:t>Interactive dashboards built in both Power BI and Excel to visualize KPIs.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Analyzed critical business metrics, including: -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Total Revenue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Total Orders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Average Order Value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Restaurant Performance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Customer Ratings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City-wise Trends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Final solution helps stakeholders understand customer behavior, operational efficiency, and growth opportunities through data-driven decision-making.</a:t>
            </a:r>
          </a:p>
          <a:p>
            <a:pPr lvl="1" algn="just"/>
            <a:endParaRPr lang="en-IN" sz="1600" dirty="0">
              <a:latin typeface="Segoe UI 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u="sng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Information: -</a:t>
            </a:r>
            <a:endParaRPr lang="en-IN" sz="1800" dirty="0">
              <a:latin typeface="Segoe UI 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The dataset used in this project is a hybrid dataset created for analytical and learning purposes.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It combines publicly available Swiggy data with simulated order-level transactions to replicate a real-world food delivery business environment. </a:t>
            </a:r>
            <a:endParaRPr lang="en-IN" sz="1600" dirty="0">
              <a:latin typeface="Segoe UI 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egoe UI "/>
              </a:rPr>
              <a:t>Designed to support Star Schema modeling and KPI analysis.</a:t>
            </a:r>
          </a:p>
        </p:txBody>
      </p:sp>
    </p:spTree>
    <p:extLst>
      <p:ext uri="{BB962C8B-B14F-4D97-AF65-F5344CB8AC3E}">
        <p14:creationId xmlns:p14="http://schemas.microsoft.com/office/powerpoint/2010/main" val="291040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BE768-9700-4605-8EFF-99E62F04EC99}"/>
              </a:ext>
            </a:extLst>
          </p:cNvPr>
          <p:cNvSpPr txBox="1"/>
          <p:nvPr/>
        </p:nvSpPr>
        <p:spPr>
          <a:xfrm>
            <a:off x="0" y="0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u="sng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Fact table Orders ( .CSV File): -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Columns: - </a:t>
            </a:r>
            <a:r>
              <a:rPr lang="en-US" sz="1600" dirty="0">
                <a:latin typeface="Segoe UI "/>
              </a:rPr>
              <a:t>Order_id, Date_id, Location_id, Restaurant_id, Dish_id, Price, Rating, Rating_Count</a:t>
            </a:r>
            <a:endParaRPr lang="en-IN" sz="1600" dirty="0">
              <a:latin typeface="Segoe UI 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>
              <a:latin typeface="Segoe UI 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Dimention table Date ( .CSV File): -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Columns: - </a:t>
            </a:r>
            <a:r>
              <a:rPr lang="en-IN" sz="1600" dirty="0">
                <a:latin typeface="Segoe UI "/>
              </a:rPr>
              <a:t>Date_id, Order_date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>
              <a:latin typeface="Segoe UI 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Dimention table Dishesh ( .CSV File): -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Columns: - </a:t>
            </a:r>
            <a:r>
              <a:rPr lang="en-IN" sz="1600" dirty="0">
                <a:latin typeface="Segoe UI "/>
              </a:rPr>
              <a:t>D</a:t>
            </a:r>
            <a:r>
              <a:rPr lang="en-US" sz="1600" dirty="0">
                <a:latin typeface="Segoe UI "/>
              </a:rPr>
              <a:t>ish_id, Category, Dish_name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Segoe UI 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Dimention table Location ( .CSV File): -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Columns: -  </a:t>
            </a:r>
            <a:r>
              <a:rPr lang="en-IN" sz="1600" dirty="0">
                <a:latin typeface="Segoe UI "/>
              </a:rPr>
              <a:t>L</a:t>
            </a:r>
            <a:r>
              <a:rPr lang="en-US" sz="1600" dirty="0">
                <a:latin typeface="Segoe UI "/>
              </a:rPr>
              <a:t>ocation_id, State, City,  Location</a:t>
            </a:r>
          </a:p>
          <a:p>
            <a:pPr lvl="2"/>
            <a:endParaRPr lang="en-US" sz="1600" dirty="0">
              <a:latin typeface="Segoe UI 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Dimention table Restaurant ( .CSV File): -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Columns: - </a:t>
            </a:r>
            <a:r>
              <a:rPr lang="en-IN" sz="1600" dirty="0">
                <a:latin typeface="Segoe UI "/>
              </a:rPr>
              <a:t>Restaurant_id, Restaurant_name</a:t>
            </a:r>
          </a:p>
          <a:p>
            <a:pPr lvl="2"/>
            <a:endParaRPr lang="en-IN" sz="1600" dirty="0">
              <a:latin typeface="Segoe UI "/>
            </a:endParaRPr>
          </a:p>
          <a:p>
            <a:pPr lvl="2"/>
            <a:endParaRPr lang="en-IN" sz="1600" dirty="0">
              <a:latin typeface="Segoe UI 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Purpose of Dataset: -</a:t>
            </a:r>
          </a:p>
          <a:p>
            <a:pPr lvl="1"/>
            <a:endParaRPr lang="en-IN" sz="1600" dirty="0">
              <a:latin typeface="Segoe UI "/>
            </a:endParaRPr>
          </a:p>
          <a:p>
            <a:pPr lvl="1" algn="just"/>
            <a:r>
              <a:rPr lang="en-US" sz="1600" dirty="0">
                <a:latin typeface="Segoe UI "/>
              </a:rPr>
              <a:t>The dataset was specifically prepared to demonstrate end-to-end analytics, including data cleaning, transformation, dimensional modeling, SQL analysis, and dashboard development using</a:t>
            </a:r>
            <a:r>
              <a:rPr lang="en-IN" sz="1600" dirty="0">
                <a:latin typeface="Segoe UI "/>
              </a:rPr>
              <a:t> Microsoft Fabric, Microsoft Power Bi, MySQL, Microsoft Excel, and Microsoft Azure.</a:t>
            </a:r>
            <a:endParaRPr lang="en-US" sz="1600" dirty="0">
              <a:latin typeface="Segoe UI "/>
            </a:endParaRPr>
          </a:p>
        </p:txBody>
      </p:sp>
    </p:spTree>
    <p:extLst>
      <p:ext uri="{BB962C8B-B14F-4D97-AF65-F5344CB8AC3E}">
        <p14:creationId xmlns:p14="http://schemas.microsoft.com/office/powerpoint/2010/main" val="76430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BE768-9700-4605-8EFF-99E62F04EC99}"/>
              </a:ext>
            </a:extLst>
          </p:cNvPr>
          <p:cNvSpPr txBox="1"/>
          <p:nvPr/>
        </p:nvSpPr>
        <p:spPr>
          <a:xfrm>
            <a:off x="0" y="0"/>
            <a:ext cx="1219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IN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Problem: -</a:t>
            </a:r>
          </a:p>
          <a:p>
            <a:pPr lvl="1" algn="just"/>
            <a:r>
              <a:rPr lang="en-US" sz="1600" dirty="0">
                <a:latin typeface="Segoe UI "/>
              </a:rPr>
              <a:t>	Swiggy processes thousands of food orders across multiple cities and restaurants. Each order generates data related to location, restaurant, category, dish, pricing, and customer ratings. Management requires a centralized analytics platform to monitor performance, identify trends, and support strategic decision-making.</a:t>
            </a:r>
          </a:p>
          <a:p>
            <a:pPr lvl="1" algn="just"/>
            <a:endParaRPr lang="en-US" sz="1600" dirty="0">
              <a:latin typeface="Segoe UI 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Statement: -</a:t>
            </a:r>
          </a:p>
          <a:p>
            <a:pPr lvl="1" algn="just"/>
            <a:r>
              <a:rPr lang="en-US" sz="1600" dirty="0">
                <a:latin typeface="Segoe UI "/>
              </a:rPr>
              <a:t>	Raw Swiggy data is stored in flat files and contains duplicates, missing values, and inconsistent formats. Because the data is unstructured, business stakeholders cannot easily answer key questions such as: -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Which cities generate the highest revenue?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Which restaurants and dishes are most popular?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How do ratings impact sales?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What are monthly and quarterly order trends?</a:t>
            </a:r>
          </a:p>
          <a:p>
            <a:pPr lvl="1" algn="just"/>
            <a:endParaRPr lang="en-US" sz="1600" dirty="0">
              <a:latin typeface="Segoe UI "/>
            </a:endParaRPr>
          </a:p>
          <a:p>
            <a:pPr lvl="1" algn="just"/>
            <a:r>
              <a:rPr lang="en-US" sz="1600" dirty="0">
                <a:latin typeface="Segoe UI "/>
              </a:rPr>
              <a:t>The business needs a robust analytics solution to clean, model, and visualize this data for decision-making.</a:t>
            </a:r>
            <a:endParaRPr lang="en-IN" sz="1600" dirty="0">
              <a:latin typeface="Segoe UI "/>
            </a:endParaRPr>
          </a:p>
          <a:p>
            <a:pPr lvl="1"/>
            <a:endParaRPr lang="en-IN" sz="1600" dirty="0">
              <a:latin typeface="Segoe UI "/>
            </a:endParaRPr>
          </a:p>
        </p:txBody>
      </p:sp>
    </p:spTree>
    <p:extLst>
      <p:ext uri="{BB962C8B-B14F-4D97-AF65-F5344CB8AC3E}">
        <p14:creationId xmlns:p14="http://schemas.microsoft.com/office/powerpoint/2010/main" val="59479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BE768-9700-4605-8EFF-99E62F04EC99}"/>
              </a:ext>
            </a:extLst>
          </p:cNvPr>
          <p:cNvSpPr txBox="1"/>
          <p:nvPr/>
        </p:nvSpPr>
        <p:spPr>
          <a:xfrm>
            <a:off x="0" y="0"/>
            <a:ext cx="12192000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v"/>
            </a:pPr>
            <a:endParaRPr lang="en-IN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endParaRPr lang="en-IN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Platform Used : -</a:t>
            </a:r>
          </a:p>
          <a:p>
            <a:pPr marL="1200150" lvl="2" indent="-285750" algn="just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SQL (MySQL) :- </a:t>
            </a:r>
            <a:r>
              <a:rPr lang="en-US" sz="1600" dirty="0">
                <a:latin typeface="Segoe UI "/>
              </a:rPr>
              <a:t>Data cleaning, validation, and dimensional modeling</a:t>
            </a:r>
          </a:p>
          <a:p>
            <a:pPr marL="1200150" lvl="2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Excel: - </a:t>
            </a:r>
            <a:r>
              <a:rPr lang="en-US" sz="1600" dirty="0">
                <a:latin typeface="Segoe UI "/>
              </a:rPr>
              <a:t>Dashboard development and KPI visualization</a:t>
            </a:r>
          </a:p>
          <a:p>
            <a:pPr marL="1200150" lvl="2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Python: - </a:t>
            </a:r>
            <a:r>
              <a:rPr lang="en-US" sz="1600" dirty="0">
                <a:latin typeface="Segoe UI "/>
              </a:rPr>
              <a:t>Data generation and pre-processing</a:t>
            </a:r>
          </a:p>
          <a:p>
            <a:pPr marL="1200150" lvl="2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Azure: - </a:t>
            </a:r>
            <a:r>
              <a:rPr lang="en-US" sz="1600" dirty="0">
                <a:latin typeface="Segoe UI "/>
              </a:rPr>
              <a:t>Cloud environment</a:t>
            </a:r>
          </a:p>
          <a:p>
            <a:pPr marL="1200150" lvl="2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Fabric: - </a:t>
            </a:r>
            <a:r>
              <a:rPr lang="en-US" sz="1600" dirty="0">
                <a:latin typeface="Segoe UI "/>
              </a:rPr>
              <a:t>Data storage and report publishing</a:t>
            </a:r>
          </a:p>
          <a:p>
            <a:pPr marL="1200150" lvl="2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Bi: - </a:t>
            </a:r>
            <a:r>
              <a:rPr lang="en-US" sz="1600" dirty="0">
                <a:latin typeface="Segoe UI "/>
              </a:rPr>
              <a:t>Semantic modeling and interactive dashboards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Segoe UI 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Segoe UI 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 and Validation: -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Check for null values for all columns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Identified blank and empty string values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Standardized date formats (i.e. mm-dd-</a:t>
            </a:r>
            <a:r>
              <a:rPr lang="en-US" sz="1600" dirty="0" err="1">
                <a:latin typeface="Segoe UI "/>
              </a:rPr>
              <a:t>yyyy</a:t>
            </a:r>
            <a:r>
              <a:rPr lang="en-US" sz="1600" dirty="0">
                <a:latin typeface="Segoe UI "/>
              </a:rPr>
              <a:t>)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Detect duplicate rows using GROUP BY and COUNT(*)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Removed duplicate records using temporary / surrogate key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Validated price and rating values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Ensured data consistency across all columns</a:t>
            </a:r>
          </a:p>
          <a:p>
            <a:pPr lvl="1" algn="just"/>
            <a:endParaRPr lang="en-IN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11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BE768-9700-4605-8EFF-99E62F04EC99}"/>
              </a:ext>
            </a:extLst>
          </p:cNvPr>
          <p:cNvSpPr txBox="1"/>
          <p:nvPr/>
        </p:nvSpPr>
        <p:spPr>
          <a:xfrm>
            <a:off x="0" y="0"/>
            <a:ext cx="1219200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v"/>
            </a:pPr>
            <a:endParaRPr lang="en-US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Actions taken from Raw Data to Actionable Insights: -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Collected and combined source datasets.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Used Python (Pandas) to generate and transform order-level data.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Imported cleaned CSV data into MySQL.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Performed data profiling to understand structure and quality.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Executed SQL queries to identify nulls, blanks, and duplicates.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Removed duplicate rows and standardized formats.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Designed a star schema with dimension and fact tables.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Loaded unique values into dimension tables.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Populated the fact table by resolving foreign keys.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Created KPI queries and analytical measures.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Connected the model to Excel and Power BI.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Built dashboards with slicers, charts, and KPIs.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Published the final report to Microsoft Fabric.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Delivered insights for business stakeholders.</a:t>
            </a:r>
          </a:p>
          <a:p>
            <a:pPr lvl="1" algn="just"/>
            <a:endParaRPr lang="en-IN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3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BE768-9700-4605-8EFF-99E62F04EC99}"/>
              </a:ext>
            </a:extLst>
          </p:cNvPr>
          <p:cNvSpPr txBox="1"/>
          <p:nvPr/>
        </p:nvSpPr>
        <p:spPr>
          <a:xfrm>
            <a:off x="0" y="0"/>
            <a:ext cx="12192000" cy="3986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v"/>
            </a:pPr>
            <a:endParaRPr lang="en-US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endParaRPr lang="en-US" dirty="0">
              <a:solidFill>
                <a:srgbClr val="FC801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Requirement: -</a:t>
            </a:r>
          </a:p>
          <a:p>
            <a:pPr lvl="1" algn="just"/>
            <a:r>
              <a:rPr lang="en-US" sz="1600" dirty="0">
                <a:latin typeface="Segoe UI "/>
              </a:rPr>
              <a:t>	The dashboard should provide filters for State, City, Restaurant, Category, Dish, and Date, and present KPI cards, trend charts, bar charts, and distribution analyses.</a:t>
            </a:r>
          </a:p>
          <a:p>
            <a:pPr lvl="1" algn="just"/>
            <a:endParaRPr lang="en-US" sz="1600" dirty="0">
              <a:latin typeface="Segoe UI "/>
            </a:endParaRPr>
          </a:p>
          <a:p>
            <a:pPr lvl="1" algn="just"/>
            <a:endParaRPr lang="en-US" sz="1600" dirty="0">
              <a:latin typeface="Segoe UI "/>
            </a:endParaRP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C801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Insights: -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•Rs. 5.03 Cr Revenue generated from total of 197K orders, it reflects strong scalable demand.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Weekend peaks drive maximum sales, indicating leisure – driven ordering behaviors.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71% of Veg share highlights dominant customers preference.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KFC, McDonald’s, Pizza Hut these are top fast – food brands leads most order volume contribution.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Segoe UI "/>
              </a:rPr>
              <a:t>Top State like Karnataka, UP, Telangana drive majority of revenue.</a:t>
            </a:r>
          </a:p>
        </p:txBody>
      </p:sp>
    </p:spTree>
    <p:extLst>
      <p:ext uri="{BB962C8B-B14F-4D97-AF65-F5344CB8AC3E}">
        <p14:creationId xmlns:p14="http://schemas.microsoft.com/office/powerpoint/2010/main" val="358451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79BE65-672F-4217-BDA6-1F908C9742AF}"/>
              </a:ext>
            </a:extLst>
          </p:cNvPr>
          <p:cNvGrpSpPr/>
          <p:nvPr/>
        </p:nvGrpSpPr>
        <p:grpSpPr>
          <a:xfrm>
            <a:off x="611697" y="465566"/>
            <a:ext cx="10968606" cy="5926867"/>
            <a:chOff x="749757" y="465740"/>
            <a:chExt cx="10445594" cy="57461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7DB45B-65DA-446A-86C4-FB17069EC539}"/>
                </a:ext>
              </a:extLst>
            </p:cNvPr>
            <p:cNvSpPr/>
            <p:nvPr/>
          </p:nvSpPr>
          <p:spPr>
            <a:xfrm>
              <a:off x="749757" y="641321"/>
              <a:ext cx="10424160" cy="5394960"/>
            </a:xfrm>
            <a:prstGeom prst="rect">
              <a:avLst/>
            </a:prstGeom>
            <a:solidFill>
              <a:srgbClr val="ECD078"/>
            </a:solidFill>
            <a:ln>
              <a:solidFill>
                <a:srgbClr val="ECD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86E74D4-ACDA-48A6-84D4-8B260F7C61F1}"/>
                </a:ext>
              </a:extLst>
            </p:cNvPr>
            <p:cNvGrpSpPr/>
            <p:nvPr/>
          </p:nvGrpSpPr>
          <p:grpSpPr>
            <a:xfrm>
              <a:off x="1074420" y="465740"/>
              <a:ext cx="10120931" cy="5746121"/>
              <a:chOff x="1234440" y="566928"/>
              <a:chExt cx="9813771" cy="525733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EDD806-9C6B-4CA1-BCCA-31F4BAFAAE74}"/>
                  </a:ext>
                </a:extLst>
              </p:cNvPr>
              <p:cNvSpPr/>
              <p:nvPr/>
            </p:nvSpPr>
            <p:spPr>
              <a:xfrm>
                <a:off x="12344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CFD94D-27CE-40C0-95B9-74B373817082}"/>
                  </a:ext>
                </a:extLst>
              </p:cNvPr>
              <p:cNvSpPr/>
              <p:nvPr/>
            </p:nvSpPr>
            <p:spPr>
              <a:xfrm>
                <a:off x="20116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8EC78F-2D5A-4E3F-9D18-D465CD9F3077}"/>
                  </a:ext>
                </a:extLst>
              </p:cNvPr>
              <p:cNvSpPr/>
              <p:nvPr/>
            </p:nvSpPr>
            <p:spPr>
              <a:xfrm>
                <a:off x="27889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F25900-2F4F-4D01-AFC3-0DABAC92F301}"/>
                  </a:ext>
                </a:extLst>
              </p:cNvPr>
              <p:cNvSpPr/>
              <p:nvPr/>
            </p:nvSpPr>
            <p:spPr>
              <a:xfrm>
                <a:off x="35661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B61F5FE-C94A-4512-B07C-46151D1336B8}"/>
                  </a:ext>
                </a:extLst>
              </p:cNvPr>
              <p:cNvSpPr/>
              <p:nvPr/>
            </p:nvSpPr>
            <p:spPr>
              <a:xfrm>
                <a:off x="43434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6B76A-7378-414D-9630-3CD8311F8024}"/>
                  </a:ext>
                </a:extLst>
              </p:cNvPr>
              <p:cNvSpPr/>
              <p:nvPr/>
            </p:nvSpPr>
            <p:spPr>
              <a:xfrm>
                <a:off x="51206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F55F42-FD1F-4E42-9746-E7C111EDD59F}"/>
                  </a:ext>
                </a:extLst>
              </p:cNvPr>
              <p:cNvSpPr/>
              <p:nvPr/>
            </p:nvSpPr>
            <p:spPr>
              <a:xfrm>
                <a:off x="5897879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A5B9A8-C770-4A44-875A-F95A75AB5429}"/>
                  </a:ext>
                </a:extLst>
              </p:cNvPr>
              <p:cNvSpPr/>
              <p:nvPr/>
            </p:nvSpPr>
            <p:spPr>
              <a:xfrm>
                <a:off x="66751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8D67A7-EF44-422D-9859-FE8A68F150B8}"/>
                  </a:ext>
                </a:extLst>
              </p:cNvPr>
              <p:cNvSpPr/>
              <p:nvPr/>
            </p:nvSpPr>
            <p:spPr>
              <a:xfrm>
                <a:off x="74523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AF2487-058E-4899-A551-CA77DE6EC7DD}"/>
                  </a:ext>
                </a:extLst>
              </p:cNvPr>
              <p:cNvSpPr/>
              <p:nvPr/>
            </p:nvSpPr>
            <p:spPr>
              <a:xfrm>
                <a:off x="82296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5736F84-136D-4391-BC32-285826CF729D}"/>
                  </a:ext>
                </a:extLst>
              </p:cNvPr>
              <p:cNvSpPr/>
              <p:nvPr/>
            </p:nvSpPr>
            <p:spPr>
              <a:xfrm>
                <a:off x="90068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ECB057-501C-4F8A-A73D-495CA263577F}"/>
                  </a:ext>
                </a:extLst>
              </p:cNvPr>
              <p:cNvSpPr/>
              <p:nvPr/>
            </p:nvSpPr>
            <p:spPr>
              <a:xfrm>
                <a:off x="97840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789C5E-DD2B-4F43-8993-A09594FD5E77}"/>
                  </a:ext>
                </a:extLst>
              </p:cNvPr>
              <p:cNvSpPr txBox="1"/>
              <p:nvPr/>
            </p:nvSpPr>
            <p:spPr>
              <a:xfrm>
                <a:off x="10078946" y="4786834"/>
                <a:ext cx="969265" cy="103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0">
                    <a:solidFill>
                      <a:srgbClr val="5A6F5E"/>
                    </a:solidFill>
                  </a:defRPr>
                </a:pPr>
                <a:r>
                  <a:rPr dirty="0"/>
                  <a:t>❋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D217-FAD9-4242-B25D-27B84150D086}"/>
              </a:ext>
            </a:extLst>
          </p:cNvPr>
          <p:cNvGrpSpPr/>
          <p:nvPr/>
        </p:nvGrpSpPr>
        <p:grpSpPr>
          <a:xfrm>
            <a:off x="1023284" y="1976816"/>
            <a:ext cx="5878563" cy="3945876"/>
            <a:chOff x="633445" y="1022873"/>
            <a:chExt cx="8385049" cy="4453128"/>
          </a:xfrm>
        </p:grpSpPr>
        <p:sp>
          <p:nvSpPr>
            <p:cNvPr id="19" name="Rounded Rectangle 3">
              <a:extLst>
                <a:ext uri="{FF2B5EF4-FFF2-40B4-BE49-F238E27FC236}">
                  <a16:creationId xmlns:a16="http://schemas.microsoft.com/office/drawing/2014/main" id="{EA65F380-3527-4216-8E3F-876CF044E5C0}"/>
                </a:ext>
              </a:extLst>
            </p:cNvPr>
            <p:cNvSpPr/>
            <p:nvPr/>
          </p:nvSpPr>
          <p:spPr>
            <a:xfrm>
              <a:off x="633445" y="1022873"/>
              <a:ext cx="8385049" cy="445312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7A9AE34-0F47-491E-BECE-2C9BCDF54625}"/>
                </a:ext>
              </a:extLst>
            </p:cNvPr>
            <p:cNvSpPr/>
            <p:nvPr/>
          </p:nvSpPr>
          <p:spPr>
            <a:xfrm>
              <a:off x="697454" y="1022873"/>
              <a:ext cx="8321040" cy="73152"/>
            </a:xfrm>
            <a:prstGeom prst="rect">
              <a:avLst/>
            </a:prstGeom>
            <a:solidFill>
              <a:srgbClr val="2C3E50"/>
            </a:solidFill>
            <a:ln>
              <a:solidFill>
                <a:srgbClr val="2C3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C8A01BF-1021-46A3-AA40-C91816E3B59A}"/>
              </a:ext>
            </a:extLst>
          </p:cNvPr>
          <p:cNvSpPr txBox="1"/>
          <p:nvPr/>
        </p:nvSpPr>
        <p:spPr>
          <a:xfrm>
            <a:off x="1281953" y="2505670"/>
            <a:ext cx="5017247" cy="609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SELECT COUNT(*) AS Total_Count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FROM Fact_Swiggy_Orders;</a:t>
            </a:r>
            <a:endParaRPr lang="en-IN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8EFD71-FBD7-43FF-8866-C501C073BBB2}"/>
              </a:ext>
            </a:extLst>
          </p:cNvPr>
          <p:cNvSpPr txBox="1"/>
          <p:nvPr/>
        </p:nvSpPr>
        <p:spPr>
          <a:xfrm>
            <a:off x="4215538" y="935308"/>
            <a:ext cx="3760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Performance Indicator (KPI’s)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C4696F-95BA-4DFE-9825-1DD32BE9C691}"/>
              </a:ext>
            </a:extLst>
          </p:cNvPr>
          <p:cNvSpPr txBox="1"/>
          <p:nvPr/>
        </p:nvSpPr>
        <p:spPr>
          <a:xfrm>
            <a:off x="1082699" y="1302539"/>
            <a:ext cx="6833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KPI 1: Count the Total Orders</a:t>
            </a:r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683333F-E6F7-46C1-9D71-B7317D603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716" y="1971117"/>
            <a:ext cx="3238551" cy="210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7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79BE65-672F-4217-BDA6-1F908C9742AF}"/>
              </a:ext>
            </a:extLst>
          </p:cNvPr>
          <p:cNvGrpSpPr/>
          <p:nvPr/>
        </p:nvGrpSpPr>
        <p:grpSpPr>
          <a:xfrm>
            <a:off x="611697" y="465566"/>
            <a:ext cx="10968606" cy="5926867"/>
            <a:chOff x="749757" y="465740"/>
            <a:chExt cx="10445594" cy="57461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7DB45B-65DA-446A-86C4-FB17069EC539}"/>
                </a:ext>
              </a:extLst>
            </p:cNvPr>
            <p:cNvSpPr/>
            <p:nvPr/>
          </p:nvSpPr>
          <p:spPr>
            <a:xfrm>
              <a:off x="749757" y="641321"/>
              <a:ext cx="10424160" cy="5394960"/>
            </a:xfrm>
            <a:prstGeom prst="rect">
              <a:avLst/>
            </a:prstGeom>
            <a:solidFill>
              <a:srgbClr val="ECD078"/>
            </a:solidFill>
            <a:ln>
              <a:solidFill>
                <a:srgbClr val="ECD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86E74D4-ACDA-48A6-84D4-8B260F7C61F1}"/>
                </a:ext>
              </a:extLst>
            </p:cNvPr>
            <p:cNvGrpSpPr/>
            <p:nvPr/>
          </p:nvGrpSpPr>
          <p:grpSpPr>
            <a:xfrm>
              <a:off x="1074420" y="465740"/>
              <a:ext cx="10120931" cy="5746121"/>
              <a:chOff x="1234440" y="566928"/>
              <a:chExt cx="9813771" cy="525733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EDD806-9C6B-4CA1-BCCA-31F4BAFAAE74}"/>
                  </a:ext>
                </a:extLst>
              </p:cNvPr>
              <p:cNvSpPr/>
              <p:nvPr/>
            </p:nvSpPr>
            <p:spPr>
              <a:xfrm>
                <a:off x="12344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CFD94D-27CE-40C0-95B9-74B373817082}"/>
                  </a:ext>
                </a:extLst>
              </p:cNvPr>
              <p:cNvSpPr/>
              <p:nvPr/>
            </p:nvSpPr>
            <p:spPr>
              <a:xfrm>
                <a:off x="20116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8EC78F-2D5A-4E3F-9D18-D465CD9F3077}"/>
                  </a:ext>
                </a:extLst>
              </p:cNvPr>
              <p:cNvSpPr/>
              <p:nvPr/>
            </p:nvSpPr>
            <p:spPr>
              <a:xfrm>
                <a:off x="27889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F25900-2F4F-4D01-AFC3-0DABAC92F301}"/>
                  </a:ext>
                </a:extLst>
              </p:cNvPr>
              <p:cNvSpPr/>
              <p:nvPr/>
            </p:nvSpPr>
            <p:spPr>
              <a:xfrm>
                <a:off x="35661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B61F5FE-C94A-4512-B07C-46151D1336B8}"/>
                  </a:ext>
                </a:extLst>
              </p:cNvPr>
              <p:cNvSpPr/>
              <p:nvPr/>
            </p:nvSpPr>
            <p:spPr>
              <a:xfrm>
                <a:off x="43434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6B76A-7378-414D-9630-3CD8311F8024}"/>
                  </a:ext>
                </a:extLst>
              </p:cNvPr>
              <p:cNvSpPr/>
              <p:nvPr/>
            </p:nvSpPr>
            <p:spPr>
              <a:xfrm>
                <a:off x="51206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F55F42-FD1F-4E42-9746-E7C111EDD59F}"/>
                  </a:ext>
                </a:extLst>
              </p:cNvPr>
              <p:cNvSpPr/>
              <p:nvPr/>
            </p:nvSpPr>
            <p:spPr>
              <a:xfrm>
                <a:off x="5897879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A5B9A8-C770-4A44-875A-F95A75AB5429}"/>
                  </a:ext>
                </a:extLst>
              </p:cNvPr>
              <p:cNvSpPr/>
              <p:nvPr/>
            </p:nvSpPr>
            <p:spPr>
              <a:xfrm>
                <a:off x="66751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8D67A7-EF44-422D-9859-FE8A68F150B8}"/>
                  </a:ext>
                </a:extLst>
              </p:cNvPr>
              <p:cNvSpPr/>
              <p:nvPr/>
            </p:nvSpPr>
            <p:spPr>
              <a:xfrm>
                <a:off x="74523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AF2487-058E-4899-A551-CA77DE6EC7DD}"/>
                  </a:ext>
                </a:extLst>
              </p:cNvPr>
              <p:cNvSpPr/>
              <p:nvPr/>
            </p:nvSpPr>
            <p:spPr>
              <a:xfrm>
                <a:off x="82296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5736F84-136D-4391-BC32-285826CF729D}"/>
                  </a:ext>
                </a:extLst>
              </p:cNvPr>
              <p:cNvSpPr/>
              <p:nvPr/>
            </p:nvSpPr>
            <p:spPr>
              <a:xfrm>
                <a:off x="90068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ECB057-501C-4F8A-A73D-495CA263577F}"/>
                  </a:ext>
                </a:extLst>
              </p:cNvPr>
              <p:cNvSpPr/>
              <p:nvPr/>
            </p:nvSpPr>
            <p:spPr>
              <a:xfrm>
                <a:off x="97840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789C5E-DD2B-4F43-8993-A09594FD5E77}"/>
                  </a:ext>
                </a:extLst>
              </p:cNvPr>
              <p:cNvSpPr txBox="1"/>
              <p:nvPr/>
            </p:nvSpPr>
            <p:spPr>
              <a:xfrm>
                <a:off x="10078946" y="4786834"/>
                <a:ext cx="969265" cy="103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0">
                    <a:solidFill>
                      <a:srgbClr val="5A6F5E"/>
                    </a:solidFill>
                  </a:defRPr>
                </a:pPr>
                <a:r>
                  <a:rPr dirty="0"/>
                  <a:t>❋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D217-FAD9-4242-B25D-27B84150D086}"/>
              </a:ext>
            </a:extLst>
          </p:cNvPr>
          <p:cNvGrpSpPr/>
          <p:nvPr/>
        </p:nvGrpSpPr>
        <p:grpSpPr>
          <a:xfrm>
            <a:off x="1023284" y="1976816"/>
            <a:ext cx="5878563" cy="3945876"/>
            <a:chOff x="633445" y="1022873"/>
            <a:chExt cx="8385049" cy="4453128"/>
          </a:xfrm>
        </p:grpSpPr>
        <p:sp>
          <p:nvSpPr>
            <p:cNvPr id="19" name="Rounded Rectangle 3">
              <a:extLst>
                <a:ext uri="{FF2B5EF4-FFF2-40B4-BE49-F238E27FC236}">
                  <a16:creationId xmlns:a16="http://schemas.microsoft.com/office/drawing/2014/main" id="{EA65F380-3527-4216-8E3F-876CF044E5C0}"/>
                </a:ext>
              </a:extLst>
            </p:cNvPr>
            <p:cNvSpPr/>
            <p:nvPr/>
          </p:nvSpPr>
          <p:spPr>
            <a:xfrm>
              <a:off x="633445" y="1022873"/>
              <a:ext cx="8385049" cy="445312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7A9AE34-0F47-491E-BECE-2C9BCDF54625}"/>
                </a:ext>
              </a:extLst>
            </p:cNvPr>
            <p:cNvSpPr/>
            <p:nvPr/>
          </p:nvSpPr>
          <p:spPr>
            <a:xfrm>
              <a:off x="697454" y="1022873"/>
              <a:ext cx="8321040" cy="73152"/>
            </a:xfrm>
            <a:prstGeom prst="rect">
              <a:avLst/>
            </a:prstGeom>
            <a:solidFill>
              <a:srgbClr val="2C3E50"/>
            </a:solidFill>
            <a:ln>
              <a:solidFill>
                <a:srgbClr val="2C3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C8A01BF-1021-46A3-AA40-C91816E3B59A}"/>
              </a:ext>
            </a:extLst>
          </p:cNvPr>
          <p:cNvSpPr txBox="1"/>
          <p:nvPr/>
        </p:nvSpPr>
        <p:spPr>
          <a:xfrm>
            <a:off x="1281953" y="2505670"/>
            <a:ext cx="5084980" cy="1163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SELECT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	CONCAT('₹',"",FORMAT(SUM(Price),2, 'en_IN')) AS 	Total_Revenue	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FROM Fact_Swiggy_Orders;</a:t>
            </a:r>
            <a:endParaRPr lang="en-IN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8EFD71-FBD7-43FF-8866-C501C073BBB2}"/>
              </a:ext>
            </a:extLst>
          </p:cNvPr>
          <p:cNvSpPr txBox="1"/>
          <p:nvPr/>
        </p:nvSpPr>
        <p:spPr>
          <a:xfrm>
            <a:off x="4215538" y="935308"/>
            <a:ext cx="3760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Performance Indicator (KPI’s)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C4696F-95BA-4DFE-9825-1DD32BE9C691}"/>
              </a:ext>
            </a:extLst>
          </p:cNvPr>
          <p:cNvSpPr txBox="1"/>
          <p:nvPr/>
        </p:nvSpPr>
        <p:spPr>
          <a:xfrm>
            <a:off x="1082699" y="1302539"/>
            <a:ext cx="6833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KPI 2: Count the Total Revenue	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8990DA-4869-41F0-97BD-B0EB70D51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337" y="2006503"/>
            <a:ext cx="3338796" cy="254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1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79BE65-672F-4217-BDA6-1F908C9742AF}"/>
              </a:ext>
            </a:extLst>
          </p:cNvPr>
          <p:cNvGrpSpPr/>
          <p:nvPr/>
        </p:nvGrpSpPr>
        <p:grpSpPr>
          <a:xfrm>
            <a:off x="611697" y="465566"/>
            <a:ext cx="10968606" cy="5926867"/>
            <a:chOff x="749757" y="465740"/>
            <a:chExt cx="10445594" cy="57461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7DB45B-65DA-446A-86C4-FB17069EC539}"/>
                </a:ext>
              </a:extLst>
            </p:cNvPr>
            <p:cNvSpPr/>
            <p:nvPr/>
          </p:nvSpPr>
          <p:spPr>
            <a:xfrm>
              <a:off x="749757" y="641321"/>
              <a:ext cx="10424160" cy="5394960"/>
            </a:xfrm>
            <a:prstGeom prst="rect">
              <a:avLst/>
            </a:prstGeom>
            <a:solidFill>
              <a:srgbClr val="ECD078"/>
            </a:solidFill>
            <a:ln>
              <a:solidFill>
                <a:srgbClr val="ECD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86E74D4-ACDA-48A6-84D4-8B260F7C61F1}"/>
                </a:ext>
              </a:extLst>
            </p:cNvPr>
            <p:cNvGrpSpPr/>
            <p:nvPr/>
          </p:nvGrpSpPr>
          <p:grpSpPr>
            <a:xfrm>
              <a:off x="1074420" y="465740"/>
              <a:ext cx="10120931" cy="5746121"/>
              <a:chOff x="1234440" y="566928"/>
              <a:chExt cx="9813771" cy="525733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EDD806-9C6B-4CA1-BCCA-31F4BAFAAE74}"/>
                  </a:ext>
                </a:extLst>
              </p:cNvPr>
              <p:cNvSpPr/>
              <p:nvPr/>
            </p:nvSpPr>
            <p:spPr>
              <a:xfrm>
                <a:off x="12344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CFD94D-27CE-40C0-95B9-74B373817082}"/>
                  </a:ext>
                </a:extLst>
              </p:cNvPr>
              <p:cNvSpPr/>
              <p:nvPr/>
            </p:nvSpPr>
            <p:spPr>
              <a:xfrm>
                <a:off x="20116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8EC78F-2D5A-4E3F-9D18-D465CD9F3077}"/>
                  </a:ext>
                </a:extLst>
              </p:cNvPr>
              <p:cNvSpPr/>
              <p:nvPr/>
            </p:nvSpPr>
            <p:spPr>
              <a:xfrm>
                <a:off x="27889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F25900-2F4F-4D01-AFC3-0DABAC92F301}"/>
                  </a:ext>
                </a:extLst>
              </p:cNvPr>
              <p:cNvSpPr/>
              <p:nvPr/>
            </p:nvSpPr>
            <p:spPr>
              <a:xfrm>
                <a:off x="35661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B61F5FE-C94A-4512-B07C-46151D1336B8}"/>
                  </a:ext>
                </a:extLst>
              </p:cNvPr>
              <p:cNvSpPr/>
              <p:nvPr/>
            </p:nvSpPr>
            <p:spPr>
              <a:xfrm>
                <a:off x="43434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6B76A-7378-414D-9630-3CD8311F8024}"/>
                  </a:ext>
                </a:extLst>
              </p:cNvPr>
              <p:cNvSpPr/>
              <p:nvPr/>
            </p:nvSpPr>
            <p:spPr>
              <a:xfrm>
                <a:off x="51206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F55F42-FD1F-4E42-9746-E7C111EDD59F}"/>
                  </a:ext>
                </a:extLst>
              </p:cNvPr>
              <p:cNvSpPr/>
              <p:nvPr/>
            </p:nvSpPr>
            <p:spPr>
              <a:xfrm>
                <a:off x="5897879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A5B9A8-C770-4A44-875A-F95A75AB5429}"/>
                  </a:ext>
                </a:extLst>
              </p:cNvPr>
              <p:cNvSpPr/>
              <p:nvPr/>
            </p:nvSpPr>
            <p:spPr>
              <a:xfrm>
                <a:off x="66751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8D67A7-EF44-422D-9859-FE8A68F150B8}"/>
                  </a:ext>
                </a:extLst>
              </p:cNvPr>
              <p:cNvSpPr/>
              <p:nvPr/>
            </p:nvSpPr>
            <p:spPr>
              <a:xfrm>
                <a:off x="74523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AF2487-058E-4899-A551-CA77DE6EC7DD}"/>
                  </a:ext>
                </a:extLst>
              </p:cNvPr>
              <p:cNvSpPr/>
              <p:nvPr/>
            </p:nvSpPr>
            <p:spPr>
              <a:xfrm>
                <a:off x="82296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5736F84-136D-4391-BC32-285826CF729D}"/>
                  </a:ext>
                </a:extLst>
              </p:cNvPr>
              <p:cNvSpPr/>
              <p:nvPr/>
            </p:nvSpPr>
            <p:spPr>
              <a:xfrm>
                <a:off x="90068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ECB057-501C-4F8A-A73D-495CA263577F}"/>
                  </a:ext>
                </a:extLst>
              </p:cNvPr>
              <p:cNvSpPr/>
              <p:nvPr/>
            </p:nvSpPr>
            <p:spPr>
              <a:xfrm>
                <a:off x="97840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789C5E-DD2B-4F43-8993-A09594FD5E77}"/>
                  </a:ext>
                </a:extLst>
              </p:cNvPr>
              <p:cNvSpPr txBox="1"/>
              <p:nvPr/>
            </p:nvSpPr>
            <p:spPr>
              <a:xfrm>
                <a:off x="10078946" y="4786834"/>
                <a:ext cx="969265" cy="103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0">
                    <a:solidFill>
                      <a:srgbClr val="5A6F5E"/>
                    </a:solidFill>
                  </a:defRPr>
                </a:pPr>
                <a:r>
                  <a:rPr dirty="0"/>
                  <a:t>❋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D217-FAD9-4242-B25D-27B84150D086}"/>
              </a:ext>
            </a:extLst>
          </p:cNvPr>
          <p:cNvGrpSpPr/>
          <p:nvPr/>
        </p:nvGrpSpPr>
        <p:grpSpPr>
          <a:xfrm>
            <a:off x="1023284" y="1976816"/>
            <a:ext cx="5878563" cy="3945876"/>
            <a:chOff x="633445" y="1022873"/>
            <a:chExt cx="8385049" cy="4453128"/>
          </a:xfrm>
        </p:grpSpPr>
        <p:sp>
          <p:nvSpPr>
            <p:cNvPr id="19" name="Rounded Rectangle 3">
              <a:extLst>
                <a:ext uri="{FF2B5EF4-FFF2-40B4-BE49-F238E27FC236}">
                  <a16:creationId xmlns:a16="http://schemas.microsoft.com/office/drawing/2014/main" id="{EA65F380-3527-4216-8E3F-876CF044E5C0}"/>
                </a:ext>
              </a:extLst>
            </p:cNvPr>
            <p:cNvSpPr/>
            <p:nvPr/>
          </p:nvSpPr>
          <p:spPr>
            <a:xfrm>
              <a:off x="633445" y="1022873"/>
              <a:ext cx="8385049" cy="445312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7A9AE34-0F47-491E-BECE-2C9BCDF54625}"/>
                </a:ext>
              </a:extLst>
            </p:cNvPr>
            <p:cNvSpPr/>
            <p:nvPr/>
          </p:nvSpPr>
          <p:spPr>
            <a:xfrm>
              <a:off x="697454" y="1022873"/>
              <a:ext cx="8321040" cy="73152"/>
            </a:xfrm>
            <a:prstGeom prst="rect">
              <a:avLst/>
            </a:prstGeom>
            <a:solidFill>
              <a:srgbClr val="2C3E50"/>
            </a:solidFill>
            <a:ln>
              <a:solidFill>
                <a:srgbClr val="2C3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C8A01BF-1021-46A3-AA40-C91816E3B59A}"/>
              </a:ext>
            </a:extLst>
          </p:cNvPr>
          <p:cNvSpPr txBox="1"/>
          <p:nvPr/>
        </p:nvSpPr>
        <p:spPr>
          <a:xfrm>
            <a:off x="1281953" y="2505670"/>
            <a:ext cx="5084980" cy="886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SELECT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	CONCAT('₹','',ROUND(AVG(Price),2)) AS 	Avg_Dish_Price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FROM Fact_Swiggy_Orders;</a:t>
            </a:r>
            <a:endParaRPr lang="en-IN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8EFD71-FBD7-43FF-8866-C501C073BBB2}"/>
              </a:ext>
            </a:extLst>
          </p:cNvPr>
          <p:cNvSpPr txBox="1"/>
          <p:nvPr/>
        </p:nvSpPr>
        <p:spPr>
          <a:xfrm>
            <a:off x="4215538" y="935308"/>
            <a:ext cx="3760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Performance Indicator (KPI’s)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C4696F-95BA-4DFE-9825-1DD32BE9C691}"/>
              </a:ext>
            </a:extLst>
          </p:cNvPr>
          <p:cNvSpPr txBox="1"/>
          <p:nvPr/>
        </p:nvSpPr>
        <p:spPr>
          <a:xfrm>
            <a:off x="1082699" y="1302539"/>
            <a:ext cx="6833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KPI 3: Show the Average Dish price	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9497686-A6C7-4E20-9C04-F893224C0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4" y="1976816"/>
            <a:ext cx="3216937" cy="245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90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79BE65-672F-4217-BDA6-1F908C9742AF}"/>
              </a:ext>
            </a:extLst>
          </p:cNvPr>
          <p:cNvGrpSpPr/>
          <p:nvPr/>
        </p:nvGrpSpPr>
        <p:grpSpPr>
          <a:xfrm>
            <a:off x="611697" y="465566"/>
            <a:ext cx="10968606" cy="5926867"/>
            <a:chOff x="749757" y="465740"/>
            <a:chExt cx="10445594" cy="57461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7DB45B-65DA-446A-86C4-FB17069EC539}"/>
                </a:ext>
              </a:extLst>
            </p:cNvPr>
            <p:cNvSpPr/>
            <p:nvPr/>
          </p:nvSpPr>
          <p:spPr>
            <a:xfrm>
              <a:off x="749757" y="641321"/>
              <a:ext cx="10424160" cy="5394960"/>
            </a:xfrm>
            <a:prstGeom prst="rect">
              <a:avLst/>
            </a:prstGeom>
            <a:solidFill>
              <a:srgbClr val="ECD078"/>
            </a:solidFill>
            <a:ln>
              <a:solidFill>
                <a:srgbClr val="ECD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86E74D4-ACDA-48A6-84D4-8B260F7C61F1}"/>
                </a:ext>
              </a:extLst>
            </p:cNvPr>
            <p:cNvGrpSpPr/>
            <p:nvPr/>
          </p:nvGrpSpPr>
          <p:grpSpPr>
            <a:xfrm>
              <a:off x="1074420" y="465740"/>
              <a:ext cx="10120931" cy="5746121"/>
              <a:chOff x="1234440" y="566928"/>
              <a:chExt cx="9813771" cy="525733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EDD806-9C6B-4CA1-BCCA-31F4BAFAAE74}"/>
                  </a:ext>
                </a:extLst>
              </p:cNvPr>
              <p:cNvSpPr/>
              <p:nvPr/>
            </p:nvSpPr>
            <p:spPr>
              <a:xfrm>
                <a:off x="12344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CFD94D-27CE-40C0-95B9-74B373817082}"/>
                  </a:ext>
                </a:extLst>
              </p:cNvPr>
              <p:cNvSpPr/>
              <p:nvPr/>
            </p:nvSpPr>
            <p:spPr>
              <a:xfrm>
                <a:off x="20116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8EC78F-2D5A-4E3F-9D18-D465CD9F3077}"/>
                  </a:ext>
                </a:extLst>
              </p:cNvPr>
              <p:cNvSpPr/>
              <p:nvPr/>
            </p:nvSpPr>
            <p:spPr>
              <a:xfrm>
                <a:off x="27889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F25900-2F4F-4D01-AFC3-0DABAC92F301}"/>
                  </a:ext>
                </a:extLst>
              </p:cNvPr>
              <p:cNvSpPr/>
              <p:nvPr/>
            </p:nvSpPr>
            <p:spPr>
              <a:xfrm>
                <a:off x="35661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B61F5FE-C94A-4512-B07C-46151D1336B8}"/>
                  </a:ext>
                </a:extLst>
              </p:cNvPr>
              <p:cNvSpPr/>
              <p:nvPr/>
            </p:nvSpPr>
            <p:spPr>
              <a:xfrm>
                <a:off x="43434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6B76A-7378-414D-9630-3CD8311F8024}"/>
                  </a:ext>
                </a:extLst>
              </p:cNvPr>
              <p:cNvSpPr/>
              <p:nvPr/>
            </p:nvSpPr>
            <p:spPr>
              <a:xfrm>
                <a:off x="51206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F55F42-FD1F-4E42-9746-E7C111EDD59F}"/>
                  </a:ext>
                </a:extLst>
              </p:cNvPr>
              <p:cNvSpPr/>
              <p:nvPr/>
            </p:nvSpPr>
            <p:spPr>
              <a:xfrm>
                <a:off x="5897879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A5B9A8-C770-4A44-875A-F95A75AB5429}"/>
                  </a:ext>
                </a:extLst>
              </p:cNvPr>
              <p:cNvSpPr/>
              <p:nvPr/>
            </p:nvSpPr>
            <p:spPr>
              <a:xfrm>
                <a:off x="66751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8D67A7-EF44-422D-9859-FE8A68F150B8}"/>
                  </a:ext>
                </a:extLst>
              </p:cNvPr>
              <p:cNvSpPr/>
              <p:nvPr/>
            </p:nvSpPr>
            <p:spPr>
              <a:xfrm>
                <a:off x="74523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AF2487-058E-4899-A551-CA77DE6EC7DD}"/>
                  </a:ext>
                </a:extLst>
              </p:cNvPr>
              <p:cNvSpPr/>
              <p:nvPr/>
            </p:nvSpPr>
            <p:spPr>
              <a:xfrm>
                <a:off x="82296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5736F84-136D-4391-BC32-285826CF729D}"/>
                  </a:ext>
                </a:extLst>
              </p:cNvPr>
              <p:cNvSpPr/>
              <p:nvPr/>
            </p:nvSpPr>
            <p:spPr>
              <a:xfrm>
                <a:off x="90068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ECB057-501C-4F8A-A73D-495CA263577F}"/>
                  </a:ext>
                </a:extLst>
              </p:cNvPr>
              <p:cNvSpPr/>
              <p:nvPr/>
            </p:nvSpPr>
            <p:spPr>
              <a:xfrm>
                <a:off x="97840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789C5E-DD2B-4F43-8993-A09594FD5E77}"/>
                  </a:ext>
                </a:extLst>
              </p:cNvPr>
              <p:cNvSpPr txBox="1"/>
              <p:nvPr/>
            </p:nvSpPr>
            <p:spPr>
              <a:xfrm>
                <a:off x="10078946" y="4786834"/>
                <a:ext cx="969265" cy="103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0">
                    <a:solidFill>
                      <a:srgbClr val="5A6F5E"/>
                    </a:solidFill>
                  </a:defRPr>
                </a:pPr>
                <a:r>
                  <a:rPr dirty="0"/>
                  <a:t>❋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D217-FAD9-4242-B25D-27B84150D086}"/>
              </a:ext>
            </a:extLst>
          </p:cNvPr>
          <p:cNvGrpSpPr/>
          <p:nvPr/>
        </p:nvGrpSpPr>
        <p:grpSpPr>
          <a:xfrm>
            <a:off x="1023284" y="1976816"/>
            <a:ext cx="5878563" cy="3945876"/>
            <a:chOff x="633445" y="1022873"/>
            <a:chExt cx="8385049" cy="4453128"/>
          </a:xfrm>
        </p:grpSpPr>
        <p:sp>
          <p:nvSpPr>
            <p:cNvPr id="19" name="Rounded Rectangle 3">
              <a:extLst>
                <a:ext uri="{FF2B5EF4-FFF2-40B4-BE49-F238E27FC236}">
                  <a16:creationId xmlns:a16="http://schemas.microsoft.com/office/drawing/2014/main" id="{EA65F380-3527-4216-8E3F-876CF044E5C0}"/>
                </a:ext>
              </a:extLst>
            </p:cNvPr>
            <p:cNvSpPr/>
            <p:nvPr/>
          </p:nvSpPr>
          <p:spPr>
            <a:xfrm>
              <a:off x="633445" y="1022873"/>
              <a:ext cx="8385049" cy="445312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7A9AE34-0F47-491E-BECE-2C9BCDF54625}"/>
                </a:ext>
              </a:extLst>
            </p:cNvPr>
            <p:cNvSpPr/>
            <p:nvPr/>
          </p:nvSpPr>
          <p:spPr>
            <a:xfrm>
              <a:off x="697454" y="1022873"/>
              <a:ext cx="8321040" cy="73152"/>
            </a:xfrm>
            <a:prstGeom prst="rect">
              <a:avLst/>
            </a:prstGeom>
            <a:solidFill>
              <a:srgbClr val="2C3E50"/>
            </a:solidFill>
            <a:ln>
              <a:solidFill>
                <a:srgbClr val="2C3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C8A01BF-1021-46A3-AA40-C91816E3B59A}"/>
              </a:ext>
            </a:extLst>
          </p:cNvPr>
          <p:cNvSpPr txBox="1"/>
          <p:nvPr/>
        </p:nvSpPr>
        <p:spPr>
          <a:xfrm>
            <a:off x="1281953" y="2505670"/>
            <a:ext cx="5084980" cy="886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SELECT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	ROUND(AVG(Rating),1) AS Avg_Rating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FROM Fact_Swiggy_Orders;</a:t>
            </a:r>
            <a:endParaRPr lang="en-IN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8EFD71-FBD7-43FF-8866-C501C073BBB2}"/>
              </a:ext>
            </a:extLst>
          </p:cNvPr>
          <p:cNvSpPr txBox="1"/>
          <p:nvPr/>
        </p:nvSpPr>
        <p:spPr>
          <a:xfrm>
            <a:off x="4215538" y="935308"/>
            <a:ext cx="3760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Performance Indicator (KPI’s)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C4696F-95BA-4DFE-9825-1DD32BE9C691}"/>
              </a:ext>
            </a:extLst>
          </p:cNvPr>
          <p:cNvSpPr txBox="1"/>
          <p:nvPr/>
        </p:nvSpPr>
        <p:spPr>
          <a:xfrm>
            <a:off x="1082699" y="1302539"/>
            <a:ext cx="6833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KPI 4: Show the Average Rating	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065A23-C3F4-4B89-9CA3-663B085A5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677" y="1976816"/>
            <a:ext cx="3269856" cy="262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8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79BE65-672F-4217-BDA6-1F908C9742AF}"/>
              </a:ext>
            </a:extLst>
          </p:cNvPr>
          <p:cNvGrpSpPr/>
          <p:nvPr/>
        </p:nvGrpSpPr>
        <p:grpSpPr>
          <a:xfrm>
            <a:off x="611697" y="465566"/>
            <a:ext cx="10968606" cy="5926867"/>
            <a:chOff x="749757" y="465740"/>
            <a:chExt cx="10445594" cy="57461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7DB45B-65DA-446A-86C4-FB17069EC539}"/>
                </a:ext>
              </a:extLst>
            </p:cNvPr>
            <p:cNvSpPr/>
            <p:nvPr/>
          </p:nvSpPr>
          <p:spPr>
            <a:xfrm>
              <a:off x="749757" y="641321"/>
              <a:ext cx="10424160" cy="5394960"/>
            </a:xfrm>
            <a:prstGeom prst="rect">
              <a:avLst/>
            </a:prstGeom>
            <a:solidFill>
              <a:srgbClr val="ECD078"/>
            </a:solidFill>
            <a:ln>
              <a:solidFill>
                <a:srgbClr val="ECD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86E74D4-ACDA-48A6-84D4-8B260F7C61F1}"/>
                </a:ext>
              </a:extLst>
            </p:cNvPr>
            <p:cNvGrpSpPr/>
            <p:nvPr/>
          </p:nvGrpSpPr>
          <p:grpSpPr>
            <a:xfrm>
              <a:off x="1074420" y="465740"/>
              <a:ext cx="10120931" cy="5746121"/>
              <a:chOff x="1234440" y="566928"/>
              <a:chExt cx="9813771" cy="525733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EDD806-9C6B-4CA1-BCCA-31F4BAFAAE74}"/>
                  </a:ext>
                </a:extLst>
              </p:cNvPr>
              <p:cNvSpPr/>
              <p:nvPr/>
            </p:nvSpPr>
            <p:spPr>
              <a:xfrm>
                <a:off x="12344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CFD94D-27CE-40C0-95B9-74B373817082}"/>
                  </a:ext>
                </a:extLst>
              </p:cNvPr>
              <p:cNvSpPr/>
              <p:nvPr/>
            </p:nvSpPr>
            <p:spPr>
              <a:xfrm>
                <a:off x="20116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8EC78F-2D5A-4E3F-9D18-D465CD9F3077}"/>
                  </a:ext>
                </a:extLst>
              </p:cNvPr>
              <p:cNvSpPr/>
              <p:nvPr/>
            </p:nvSpPr>
            <p:spPr>
              <a:xfrm>
                <a:off x="27889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F25900-2F4F-4D01-AFC3-0DABAC92F301}"/>
                  </a:ext>
                </a:extLst>
              </p:cNvPr>
              <p:cNvSpPr/>
              <p:nvPr/>
            </p:nvSpPr>
            <p:spPr>
              <a:xfrm>
                <a:off x="35661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B61F5FE-C94A-4512-B07C-46151D1336B8}"/>
                  </a:ext>
                </a:extLst>
              </p:cNvPr>
              <p:cNvSpPr/>
              <p:nvPr/>
            </p:nvSpPr>
            <p:spPr>
              <a:xfrm>
                <a:off x="43434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6B76A-7378-414D-9630-3CD8311F8024}"/>
                  </a:ext>
                </a:extLst>
              </p:cNvPr>
              <p:cNvSpPr/>
              <p:nvPr/>
            </p:nvSpPr>
            <p:spPr>
              <a:xfrm>
                <a:off x="51206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F55F42-FD1F-4E42-9746-E7C111EDD59F}"/>
                  </a:ext>
                </a:extLst>
              </p:cNvPr>
              <p:cNvSpPr/>
              <p:nvPr/>
            </p:nvSpPr>
            <p:spPr>
              <a:xfrm>
                <a:off x="5897879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A5B9A8-C770-4A44-875A-F95A75AB5429}"/>
                  </a:ext>
                </a:extLst>
              </p:cNvPr>
              <p:cNvSpPr/>
              <p:nvPr/>
            </p:nvSpPr>
            <p:spPr>
              <a:xfrm>
                <a:off x="667512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8D67A7-EF44-422D-9859-FE8A68F150B8}"/>
                  </a:ext>
                </a:extLst>
              </p:cNvPr>
              <p:cNvSpPr/>
              <p:nvPr/>
            </p:nvSpPr>
            <p:spPr>
              <a:xfrm>
                <a:off x="745236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AF2487-058E-4899-A551-CA77DE6EC7DD}"/>
                  </a:ext>
                </a:extLst>
              </p:cNvPr>
              <p:cNvSpPr/>
              <p:nvPr/>
            </p:nvSpPr>
            <p:spPr>
              <a:xfrm>
                <a:off x="822960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5736F84-136D-4391-BC32-285826CF729D}"/>
                  </a:ext>
                </a:extLst>
              </p:cNvPr>
              <p:cNvSpPr/>
              <p:nvPr/>
            </p:nvSpPr>
            <p:spPr>
              <a:xfrm>
                <a:off x="900684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ECB057-501C-4F8A-A73D-495CA263577F}"/>
                  </a:ext>
                </a:extLst>
              </p:cNvPr>
              <p:cNvSpPr/>
              <p:nvPr/>
            </p:nvSpPr>
            <p:spPr>
              <a:xfrm>
                <a:off x="9784080" y="566928"/>
                <a:ext cx="109728" cy="256032"/>
              </a:xfrm>
              <a:prstGeom prst="rect">
                <a:avLst/>
              </a:prstGeom>
              <a:solid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789C5E-DD2B-4F43-8993-A09594FD5E77}"/>
                  </a:ext>
                </a:extLst>
              </p:cNvPr>
              <p:cNvSpPr txBox="1"/>
              <p:nvPr/>
            </p:nvSpPr>
            <p:spPr>
              <a:xfrm>
                <a:off x="10078946" y="4786834"/>
                <a:ext cx="969265" cy="103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7000">
                    <a:solidFill>
                      <a:srgbClr val="5A6F5E"/>
                    </a:solidFill>
                  </a:defRPr>
                </a:pPr>
                <a:r>
                  <a:rPr dirty="0"/>
                  <a:t>❋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2D780A1-5384-4E10-B792-08B0FD7EA877}"/>
              </a:ext>
            </a:extLst>
          </p:cNvPr>
          <p:cNvSpPr txBox="1"/>
          <p:nvPr/>
        </p:nvSpPr>
        <p:spPr>
          <a:xfrm>
            <a:off x="631913" y="2838349"/>
            <a:ext cx="1088315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Thank You!</a:t>
            </a:r>
            <a:endParaRPr lang="en-IN" sz="6000" u="sng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5861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889</TotalTime>
  <Words>1188</Words>
  <Application>Microsoft Office PowerPoint</Application>
  <PresentationFormat>Widescreen</PresentationFormat>
  <Paragraphs>156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Segoe UI </vt:lpstr>
      <vt:lpstr>Segoe UI Semibold</vt:lpstr>
      <vt:lpstr>Verdana</vt:lpstr>
      <vt:lpstr>Wingdings</vt:lpstr>
      <vt:lpstr>Retrospect</vt:lpstr>
      <vt:lpstr>Swiggy Data Analytics Insights on Order, Revenue and Customer Behaviour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Data Analytics Insights on Order, Revenue and Customer Behaviour</dc:title>
  <dc:creator>Shubham Kakade</dc:creator>
  <cp:lastModifiedBy>Shubham Kakade</cp:lastModifiedBy>
  <cp:revision>26</cp:revision>
  <dcterms:created xsi:type="dcterms:W3CDTF">2026-05-13T09:10:10Z</dcterms:created>
  <dcterms:modified xsi:type="dcterms:W3CDTF">2026-05-14T12:23:05Z</dcterms:modified>
</cp:coreProperties>
</file>